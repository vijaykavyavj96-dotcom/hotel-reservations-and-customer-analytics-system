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2"/>
  </p:notesMasterIdLst>
  <p:handoutMasterIdLst>
    <p:handoutMasterId r:id="rId23"/>
  </p:handoutMasterIdLst>
  <p:sldIdLst>
    <p:sldId id="312" r:id="rId5"/>
    <p:sldId id="324" r:id="rId6"/>
    <p:sldId id="323" r:id="rId7"/>
    <p:sldId id="325" r:id="rId8"/>
    <p:sldId id="326" r:id="rId9"/>
    <p:sldId id="304" r:id="rId10"/>
    <p:sldId id="327" r:id="rId11"/>
    <p:sldId id="281" r:id="rId12"/>
    <p:sldId id="314" r:id="rId13"/>
    <p:sldId id="307" r:id="rId14"/>
    <p:sldId id="328" r:id="rId15"/>
    <p:sldId id="315" r:id="rId16"/>
    <p:sldId id="317" r:id="rId17"/>
    <p:sldId id="318" r:id="rId18"/>
    <p:sldId id="329" r:id="rId19"/>
    <p:sldId id="330" r:id="rId20"/>
    <p:sldId id="297" r:id="rId2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5DDBCD-1832-492B-8FD1-B4F7F983D65B}">
          <p14:sldIdLst>
            <p14:sldId id="312"/>
            <p14:sldId id="324"/>
            <p14:sldId id="323"/>
            <p14:sldId id="325"/>
            <p14:sldId id="326"/>
            <p14:sldId id="304"/>
          </p14:sldIdLst>
        </p14:section>
        <p14:section name="Untitled Section" id="{ED5D18C6-A938-4018-8D23-049AE56E22C1}">
          <p14:sldIdLst>
            <p14:sldId id="327"/>
            <p14:sldId id="281"/>
            <p14:sldId id="314"/>
            <p14:sldId id="307"/>
            <p14:sldId id="328"/>
            <p14:sldId id="315"/>
            <p14:sldId id="317"/>
            <p14:sldId id="318"/>
            <p14:sldId id="329"/>
            <p14:sldId id="330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0" autoAdjust="0"/>
    <p:restoredTop sz="95388" autoAdjust="0"/>
  </p:normalViewPr>
  <p:slideViewPr>
    <p:cSldViewPr snapToGrid="0" snapToObjects="1">
      <p:cViewPr varScale="1">
        <p:scale>
          <a:sx n="105" d="100"/>
          <a:sy n="105" d="100"/>
        </p:scale>
        <p:origin x="1428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AC48B5-8744-23F9-A4F4-5C932EF82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9144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18F2-8152-9799-1F41-6AA482A72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73" y="378692"/>
            <a:ext cx="6870007" cy="1108363"/>
          </a:xfrm>
        </p:spPr>
        <p:txBody>
          <a:bodyPr anchor="t"/>
          <a:lstStyle/>
          <a:p>
            <a:r>
              <a:rPr lang="en-IN" sz="4000" b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AC30-3226-8286-A9E8-21F82FCA5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85" y="818960"/>
            <a:ext cx="10638167" cy="5809672"/>
          </a:xfrm>
        </p:spPr>
        <p:txBody>
          <a:bodyPr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Hotel Reservations &amp; Customer Analytics System is a SQL database project designed to manage hotel operations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stores customer details, room information, reservations, and payment records in a centralized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automates booking, check-in, check-out, and customer record management, reducing manual 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generates reports and analytics on occupancy, revenue, customer preferences, and booking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project helps hotel management improve decision-making, enhance customer satisfaction, and increase operational efficiency.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9410F-DE92-0183-3B2C-797898292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4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E641-501E-4B7F-2406-0E3B8419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830" y="291596"/>
            <a:ext cx="6583680" cy="946078"/>
          </a:xfrm>
        </p:spPr>
        <p:txBody>
          <a:bodyPr anchor="t"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622A-1E41-4714-D8BB-E32E60188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344168"/>
            <a:ext cx="10661904" cy="469781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Manage</a:t>
            </a:r>
            <a:r>
              <a:rPr lang="en-US" dirty="0"/>
              <a:t> Hotel Reservations Efficiently handle room bookings, check-in, and check-out.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Maintain Customer Information Store customer details and booking history securely.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Automate Booking &amp; Payment Simplify reservation and payment processes.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Generate Analytics &amp; Reports Create occupancy, revenue, and customer reports.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Support Data-Driven Decisions Improve hotel performance through analytics.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941F0-0B3F-286A-3C57-13CF1617C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6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CAD8-14EC-A115-D5C3-02CD46F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0826"/>
            <a:ext cx="6583680" cy="1531357"/>
          </a:xfrm>
        </p:spPr>
        <p:txBody>
          <a:bodyPr anchor="t"/>
          <a:lstStyle/>
          <a:p>
            <a:r>
              <a:rPr lang="en-IN" dirty="0"/>
              <a:t>PROJECT  EXPLANATION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8138B9-E714-2176-121A-B69311084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839" y="928688"/>
            <a:ext cx="11032621" cy="57284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EC7FC-95AB-645D-715A-69CB57F16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4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4C4B-71D1-6EC6-BD5B-068648DB1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47701"/>
            <a:ext cx="6979920" cy="960119"/>
          </a:xfrm>
        </p:spPr>
        <p:txBody>
          <a:bodyPr anchor="t"/>
          <a:lstStyle/>
          <a:p>
            <a:r>
              <a:rPr lang="en-IN" dirty="0"/>
              <a:t>Tables used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8513D03-809A-5425-AC7C-1237AEE29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721513"/>
              </p:ext>
            </p:extLst>
          </p:nvPr>
        </p:nvGraphicFramePr>
        <p:xfrm>
          <a:off x="708660" y="1607820"/>
          <a:ext cx="8221980" cy="4665056"/>
        </p:xfrm>
        <a:graphic>
          <a:graphicData uri="http://schemas.openxmlformats.org/drawingml/2006/table">
            <a:tbl>
              <a:tblPr/>
              <a:tblGrid>
                <a:gridCol w="4077410">
                  <a:extLst>
                    <a:ext uri="{9D8B030D-6E8A-4147-A177-3AD203B41FA5}">
                      <a16:colId xmlns:a16="http://schemas.microsoft.com/office/drawing/2014/main" val="795388953"/>
                    </a:ext>
                  </a:extLst>
                </a:gridCol>
                <a:gridCol w="4144570">
                  <a:extLst>
                    <a:ext uri="{9D8B030D-6E8A-4147-A177-3AD203B41FA5}">
                      <a16:colId xmlns:a16="http://schemas.microsoft.com/office/drawing/2014/main" val="111248735"/>
                    </a:ext>
                  </a:extLst>
                </a:gridCol>
              </a:tblGrid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Table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538819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Customers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Customer Details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154968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Rooms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Room Information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167023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Reservations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Booking Details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414507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Payments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Payment Records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167445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Employees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Staff Information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869331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Feedback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Customer Reviews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971426"/>
                  </a:ext>
                </a:extLst>
              </a:tr>
              <a:tr h="58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Room Services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Additional Services</a:t>
                      </a:r>
                    </a:p>
                  </a:txBody>
                  <a:tcPr marL="56412" marR="56412" marT="28206" marB="28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8218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8F4C0-9F40-D96E-98A2-91A06A4C2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D7DD9E-1CC2-EF89-9224-C8489A091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12563"/>
              </p:ext>
            </p:extLst>
          </p:nvPr>
        </p:nvGraphicFramePr>
        <p:xfrm>
          <a:off x="426720" y="1440180"/>
          <a:ext cx="9733280" cy="513588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4853940">
                  <a:extLst>
                    <a:ext uri="{9D8B030D-6E8A-4147-A177-3AD203B41FA5}">
                      <a16:colId xmlns:a16="http://schemas.microsoft.com/office/drawing/2014/main" val="2457101917"/>
                    </a:ext>
                  </a:extLst>
                </a:gridCol>
                <a:gridCol w="4879340">
                  <a:extLst>
                    <a:ext uri="{9D8B030D-6E8A-4147-A177-3AD203B41FA5}">
                      <a16:colId xmlns:a16="http://schemas.microsoft.com/office/drawing/2014/main" val="2340276175"/>
                    </a:ext>
                  </a:extLst>
                </a:gridCol>
              </a:tblGrid>
              <a:tr h="64198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369105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Customer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93041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Room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235406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Reservations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Booking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800057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Payment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067469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Employees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Staff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078800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 Reviews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132266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Room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Additional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85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3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295564"/>
            <a:ext cx="6999316" cy="1302327"/>
          </a:xfrm>
        </p:spPr>
        <p:txBody>
          <a:bodyPr anchor="t"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655" y="1265382"/>
            <a:ext cx="6925425" cy="4776602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Management System (DBMS)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SQL (Structured Query Language)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02C8F"/>
                </a:solidFill>
              </a:rPr>
              <a:t>SQL Queries (DDL, DML)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02C8F"/>
                </a:solidFill>
              </a:rPr>
              <a:t>Table Creation (DDL Commands)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Primary Key &amp; Foreign Key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Joins(for combining data from multiple tables)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Aggregate Functions (COUNT, SUM, AVG)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Group by and Order by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Report Generation</a:t>
            </a:r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D60835F9-E7D9-95B3-B324-1D99FA10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IN" dirty="0"/>
              <a:t>Queries Performed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5DB29-5906-1774-E78D-ACD5E3D6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1644C46-30A3-D2E1-E32A-F14A4CE2B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310129"/>
            <a:ext cx="3932237" cy="177393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1855754-27E3-7BEB-805C-EE695FE17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0637" y="701702"/>
            <a:ext cx="6242839" cy="3390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Search Customer: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</a:t>
            </a:r>
            <a:r>
              <a:rPr lang="en-IN" b="1" dirty="0">
                <a:solidFill>
                  <a:schemeClr val="tx1"/>
                </a:solidFill>
              </a:rPr>
              <a:t>select</a:t>
            </a:r>
            <a:r>
              <a:rPr lang="en-IN" dirty="0">
                <a:solidFill>
                  <a:schemeClr val="tx1"/>
                </a:solidFill>
              </a:rPr>
              <a:t>*</a:t>
            </a:r>
            <a:r>
              <a:rPr lang="en-IN" b="1" dirty="0">
                <a:solidFill>
                  <a:schemeClr val="tx1"/>
                </a:solidFill>
              </a:rPr>
              <a:t>from</a:t>
            </a:r>
            <a:r>
              <a:rPr lang="en-IN" dirty="0">
                <a:solidFill>
                  <a:schemeClr val="tx1"/>
                </a:solidFill>
              </a:rPr>
              <a:t> customers </a:t>
            </a:r>
            <a:r>
              <a:rPr lang="en-IN" b="1" dirty="0">
                <a:solidFill>
                  <a:schemeClr val="tx1"/>
                </a:solidFill>
              </a:rPr>
              <a:t>where</a:t>
            </a:r>
            <a:r>
              <a:rPr lang="en-IN" dirty="0">
                <a:solidFill>
                  <a:schemeClr val="tx1"/>
                </a:solidFill>
              </a:rPr>
              <a:t>          </a:t>
            </a:r>
            <a:r>
              <a:rPr lang="en-IN" dirty="0" err="1">
                <a:solidFill>
                  <a:schemeClr val="tx1"/>
                </a:solidFill>
              </a:rPr>
              <a:t>first_name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like</a:t>
            </a:r>
            <a:r>
              <a:rPr lang="en-IN" dirty="0" err="1">
                <a:solidFill>
                  <a:schemeClr val="tx1"/>
                </a:solidFill>
              </a:rPr>
              <a:t>'_a</a:t>
            </a:r>
            <a:r>
              <a:rPr lang="en-IN" dirty="0">
                <a:solidFill>
                  <a:schemeClr val="tx1"/>
                </a:solidFill>
              </a:rPr>
              <a:t>%__';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CA1B32-7EC5-3AAF-B85F-01AF770D101B}"/>
              </a:ext>
            </a:extLst>
          </p:cNvPr>
          <p:cNvSpPr txBox="1"/>
          <p:nvPr/>
        </p:nvSpPr>
        <p:spPr>
          <a:xfrm>
            <a:off x="4899660" y="4091940"/>
            <a:ext cx="692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8D11169-5B51-3EAC-4EC4-033D7CD3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2674874"/>
            <a:ext cx="11696700" cy="266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7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1DD986E-2DFC-7A59-C63E-C6C1694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92608"/>
            <a:ext cx="3932237" cy="1673352"/>
          </a:xfrm>
        </p:spPr>
        <p:txBody>
          <a:bodyPr anchor="ctr"/>
          <a:lstStyle/>
          <a:p>
            <a:r>
              <a:rPr lang="en-IN" dirty="0"/>
              <a:t>Check in check out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522443-7CA8-88F6-4F4F-BDC6FD732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547872"/>
            <a:ext cx="3932237" cy="191109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update reservations set </a:t>
            </a:r>
            <a:r>
              <a:rPr lang="en-IN" dirty="0" err="1">
                <a:solidFill>
                  <a:schemeClr val="tx1"/>
                </a:solidFill>
              </a:rPr>
              <a:t>booking_status</a:t>
            </a:r>
            <a:r>
              <a:rPr lang="en-IN" dirty="0">
                <a:solidFill>
                  <a:schemeClr val="tx1"/>
                </a:solidFill>
              </a:rPr>
              <a:t>='checked out' where </a:t>
            </a:r>
            <a:r>
              <a:rPr lang="en-IN" dirty="0" err="1">
                <a:solidFill>
                  <a:schemeClr val="tx1"/>
                </a:solidFill>
              </a:rPr>
              <a:t>room_id</a:t>
            </a:r>
            <a:r>
              <a:rPr lang="en-IN" dirty="0">
                <a:solidFill>
                  <a:schemeClr val="tx1"/>
                </a:solidFill>
              </a:rPr>
              <a:t>=56;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select*from reservations where </a:t>
            </a:r>
            <a:r>
              <a:rPr lang="en-IN" dirty="0" err="1">
                <a:solidFill>
                  <a:schemeClr val="tx1"/>
                </a:solidFill>
              </a:rPr>
              <a:t>room_id</a:t>
            </a:r>
            <a:r>
              <a:rPr lang="en-IN" dirty="0">
                <a:solidFill>
                  <a:schemeClr val="tx1"/>
                </a:solidFill>
              </a:rPr>
              <a:t>=56;</a:t>
            </a:r>
            <a:br>
              <a:rPr lang="en-IN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1518B-097A-F115-66F4-6FCEAB86A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49" y="3310128"/>
            <a:ext cx="11831701" cy="241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77987-EA35-CB7B-2B27-E55120377DDF}"/>
              </a:ext>
            </a:extLst>
          </p:cNvPr>
          <p:cNvSpPr txBox="1"/>
          <p:nvPr/>
        </p:nvSpPr>
        <p:spPr>
          <a:xfrm>
            <a:off x="868680" y="128016"/>
            <a:ext cx="820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202C8F"/>
                </a:solidFill>
              </a:rPr>
              <a:t>BILL GENERATION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7160F4-F4A3-1B95-F571-34A6548F32CF}"/>
              </a:ext>
            </a:extLst>
          </p:cNvPr>
          <p:cNvSpPr txBox="1"/>
          <p:nvPr/>
        </p:nvSpPr>
        <p:spPr>
          <a:xfrm>
            <a:off x="978408" y="701702"/>
            <a:ext cx="405079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select</a:t>
            </a:r>
            <a:r>
              <a:rPr lang="en-IN" sz="2000" dirty="0"/>
              <a:t> </a:t>
            </a:r>
          </a:p>
          <a:p>
            <a:r>
              <a:rPr lang="en-IN" sz="2000" i="1" dirty="0" err="1"/>
              <a:t>p</a:t>
            </a:r>
            <a:r>
              <a:rPr lang="en-IN" sz="2000" dirty="0" err="1"/>
              <a:t>.payment_id</a:t>
            </a:r>
            <a:r>
              <a:rPr lang="en-IN" sz="2000" dirty="0"/>
              <a:t>,</a:t>
            </a:r>
          </a:p>
          <a:p>
            <a:r>
              <a:rPr lang="en-IN" sz="2000" i="1" dirty="0" err="1"/>
              <a:t>p</a:t>
            </a:r>
            <a:r>
              <a:rPr lang="en-IN" sz="2000" dirty="0" err="1"/>
              <a:t>.payment_date</a:t>
            </a:r>
            <a:r>
              <a:rPr lang="en-IN" sz="2000" dirty="0"/>
              <a:t>,</a:t>
            </a:r>
          </a:p>
          <a:p>
            <a:r>
              <a:rPr lang="en-IN" sz="2000" i="1" dirty="0" err="1"/>
              <a:t>c</a:t>
            </a:r>
            <a:r>
              <a:rPr lang="en-IN" sz="2000" dirty="0" err="1"/>
              <a:t>.customer_id</a:t>
            </a:r>
            <a:r>
              <a:rPr lang="en-IN" sz="2000" dirty="0"/>
              <a:t>,</a:t>
            </a:r>
          </a:p>
          <a:p>
            <a:r>
              <a:rPr lang="en-IN" sz="2000" b="1" dirty="0" err="1"/>
              <a:t>concat</a:t>
            </a:r>
            <a:r>
              <a:rPr lang="en-IN" sz="2000" dirty="0"/>
              <a:t>(</a:t>
            </a:r>
            <a:r>
              <a:rPr lang="en-IN" sz="2000" i="1" dirty="0"/>
              <a:t>c</a:t>
            </a:r>
            <a:r>
              <a:rPr lang="en-IN" sz="2000" dirty="0"/>
              <a:t>.first_name,'',</a:t>
            </a:r>
            <a:r>
              <a:rPr lang="en-IN" sz="2000" i="1" dirty="0" err="1"/>
              <a:t>c</a:t>
            </a:r>
            <a:r>
              <a:rPr lang="en-IN" sz="2000" dirty="0" err="1"/>
              <a:t>.last_name</a:t>
            </a:r>
            <a:r>
              <a:rPr lang="en-IN" sz="2000" dirty="0"/>
              <a:t>)</a:t>
            </a:r>
            <a:r>
              <a:rPr lang="en-IN" sz="2000" b="1" dirty="0"/>
              <a:t>as</a:t>
            </a:r>
            <a:r>
              <a:rPr lang="en-IN" sz="2000" dirty="0"/>
              <a:t> </a:t>
            </a:r>
            <a:r>
              <a:rPr lang="en-IN" sz="2000" i="1" dirty="0" err="1"/>
              <a:t>customer_name</a:t>
            </a:r>
            <a:r>
              <a:rPr lang="en-IN" sz="2000" dirty="0"/>
              <a:t>,</a:t>
            </a:r>
          </a:p>
          <a:p>
            <a:r>
              <a:rPr lang="en-IN" sz="2000" b="1" dirty="0"/>
              <a:t>from</a:t>
            </a:r>
            <a:r>
              <a:rPr lang="en-IN" sz="2000" dirty="0"/>
              <a:t> customers </a:t>
            </a:r>
            <a:r>
              <a:rPr lang="en-IN" sz="2000" i="1" dirty="0"/>
              <a:t>c</a:t>
            </a:r>
            <a:endParaRPr lang="en-IN" sz="2000" dirty="0"/>
          </a:p>
          <a:p>
            <a:r>
              <a:rPr lang="en-IN" sz="2000" b="1" dirty="0"/>
              <a:t>join</a:t>
            </a:r>
            <a:r>
              <a:rPr lang="en-IN" sz="2000" dirty="0"/>
              <a:t> reservations </a:t>
            </a:r>
            <a:r>
              <a:rPr lang="en-IN" sz="2000" i="1" dirty="0"/>
              <a:t>r</a:t>
            </a:r>
            <a:endParaRPr lang="en-IN" sz="2000" dirty="0"/>
          </a:p>
          <a:p>
            <a:r>
              <a:rPr lang="en-IN" sz="2000" b="1" dirty="0"/>
              <a:t>on</a:t>
            </a:r>
            <a:r>
              <a:rPr lang="en-IN" sz="2000" dirty="0"/>
              <a:t> </a:t>
            </a:r>
            <a:r>
              <a:rPr lang="en-IN" sz="2000" i="1" dirty="0" err="1"/>
              <a:t>c</a:t>
            </a:r>
            <a:r>
              <a:rPr lang="en-IN" sz="2000" dirty="0" err="1"/>
              <a:t>.customer_id</a:t>
            </a:r>
            <a:r>
              <a:rPr lang="en-IN" sz="2000" dirty="0"/>
              <a:t>=</a:t>
            </a:r>
            <a:r>
              <a:rPr lang="en-IN" sz="2000" i="1" dirty="0" err="1"/>
              <a:t>r</a:t>
            </a:r>
            <a:r>
              <a:rPr lang="en-IN" sz="2000" dirty="0" err="1"/>
              <a:t>.customer_id</a:t>
            </a:r>
            <a:endParaRPr lang="en-IN" sz="2000" dirty="0"/>
          </a:p>
          <a:p>
            <a:r>
              <a:rPr lang="en-IN" sz="2000" b="1" dirty="0"/>
              <a:t>join</a:t>
            </a:r>
            <a:r>
              <a:rPr lang="en-IN" sz="2000" dirty="0"/>
              <a:t> rooms </a:t>
            </a:r>
            <a:r>
              <a:rPr lang="en-IN" sz="2000" i="1" dirty="0"/>
              <a:t>rm</a:t>
            </a:r>
            <a:endParaRPr lang="en-IN" sz="2000" dirty="0"/>
          </a:p>
          <a:p>
            <a:r>
              <a:rPr lang="en-IN" sz="2000" b="1" dirty="0"/>
              <a:t>on</a:t>
            </a:r>
            <a:r>
              <a:rPr lang="en-IN" sz="2000" dirty="0"/>
              <a:t> </a:t>
            </a:r>
            <a:r>
              <a:rPr lang="en-IN" sz="2000" i="1" dirty="0" err="1"/>
              <a:t>rm</a:t>
            </a:r>
            <a:r>
              <a:rPr lang="en-IN" sz="2000" dirty="0" err="1"/>
              <a:t>.room_id</a:t>
            </a:r>
            <a:r>
              <a:rPr lang="en-IN" sz="2000" dirty="0"/>
              <a:t>=</a:t>
            </a:r>
            <a:r>
              <a:rPr lang="en-IN" sz="2000" i="1" dirty="0" err="1"/>
              <a:t>r</a:t>
            </a:r>
            <a:r>
              <a:rPr lang="en-IN" sz="2000" dirty="0" err="1"/>
              <a:t>.room_id</a:t>
            </a:r>
            <a:endParaRPr lang="en-IN" sz="2000" dirty="0"/>
          </a:p>
          <a:p>
            <a:r>
              <a:rPr lang="en-IN" sz="2000" b="1" dirty="0"/>
              <a:t>join</a:t>
            </a:r>
            <a:r>
              <a:rPr lang="en-IN" sz="2000" dirty="0"/>
              <a:t> </a:t>
            </a:r>
            <a:r>
              <a:rPr lang="en-IN" sz="2000" dirty="0" err="1"/>
              <a:t>room_services</a:t>
            </a:r>
            <a:r>
              <a:rPr lang="en-IN" sz="2000" dirty="0"/>
              <a:t> </a:t>
            </a:r>
            <a:r>
              <a:rPr lang="en-IN" sz="2000" i="1" dirty="0" err="1"/>
              <a:t>rs</a:t>
            </a:r>
            <a:endParaRPr lang="en-IN" sz="2000" dirty="0"/>
          </a:p>
          <a:p>
            <a:r>
              <a:rPr lang="en-IN" sz="2000" b="1" dirty="0"/>
              <a:t>on</a:t>
            </a:r>
            <a:r>
              <a:rPr lang="en-IN" sz="2000" dirty="0"/>
              <a:t> </a:t>
            </a:r>
            <a:r>
              <a:rPr lang="en-IN" sz="2000" i="1" dirty="0" err="1"/>
              <a:t>r</a:t>
            </a:r>
            <a:r>
              <a:rPr lang="en-IN" sz="2000" dirty="0" err="1"/>
              <a:t>.reservation_id</a:t>
            </a:r>
            <a:r>
              <a:rPr lang="en-IN" sz="2000" dirty="0"/>
              <a:t>=</a:t>
            </a:r>
            <a:r>
              <a:rPr lang="en-IN" sz="2000" i="1" dirty="0" err="1"/>
              <a:t>rs</a:t>
            </a:r>
            <a:r>
              <a:rPr lang="en-IN" sz="2000" dirty="0" err="1"/>
              <a:t>.reservation_id</a:t>
            </a:r>
            <a:endParaRPr lang="en-IN" sz="2000" dirty="0"/>
          </a:p>
          <a:p>
            <a:r>
              <a:rPr lang="en-IN" sz="2000" b="1" dirty="0"/>
              <a:t>join</a:t>
            </a:r>
            <a:r>
              <a:rPr lang="en-IN" sz="2000" dirty="0"/>
              <a:t> payments </a:t>
            </a:r>
            <a:r>
              <a:rPr lang="en-IN" sz="2000" i="1" dirty="0"/>
              <a:t>p</a:t>
            </a:r>
            <a:endParaRPr lang="en-IN" sz="2000" dirty="0"/>
          </a:p>
          <a:p>
            <a:r>
              <a:rPr lang="en-IN" sz="2000" b="1" dirty="0"/>
              <a:t>on</a:t>
            </a:r>
            <a:r>
              <a:rPr lang="en-IN" sz="2000" dirty="0"/>
              <a:t> </a:t>
            </a:r>
            <a:r>
              <a:rPr lang="en-IN" sz="2000" i="1" dirty="0" err="1"/>
              <a:t>p</a:t>
            </a:r>
            <a:r>
              <a:rPr lang="en-IN" sz="2000" dirty="0" err="1"/>
              <a:t>.reservation_id</a:t>
            </a:r>
            <a:r>
              <a:rPr lang="en-IN" sz="2000" dirty="0"/>
              <a:t>=</a:t>
            </a:r>
            <a:r>
              <a:rPr lang="en-IN" sz="2000" i="1" dirty="0" err="1"/>
              <a:t>r</a:t>
            </a:r>
            <a:r>
              <a:rPr lang="en-IN" sz="2000" dirty="0" err="1"/>
              <a:t>.reservation_id</a:t>
            </a:r>
            <a:r>
              <a:rPr lang="en-IN" sz="2000" dirty="0"/>
              <a:t>;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169F3C-4777-A2DB-DEEF-609382A1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78" y="521208"/>
            <a:ext cx="6793992" cy="563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47472"/>
            <a:ext cx="11987784" cy="594360"/>
          </a:xfrm>
        </p:spPr>
        <p:txBody>
          <a:bodyPr/>
          <a:lstStyle/>
          <a:p>
            <a:r>
              <a:rPr lang="en-US" cap="none" dirty="0"/>
              <a:t>YEARLY REVENUE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A3780-358F-BD9D-311B-3A7BE2005733}"/>
              </a:ext>
            </a:extLst>
          </p:cNvPr>
          <p:cNvSpPr txBox="1"/>
          <p:nvPr/>
        </p:nvSpPr>
        <p:spPr>
          <a:xfrm>
            <a:off x="1043259" y="1083506"/>
            <a:ext cx="10277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SELECT</a:t>
            </a:r>
            <a:endParaRPr lang="en-IN" dirty="0"/>
          </a:p>
          <a:p>
            <a:r>
              <a:rPr lang="en-IN" b="1" dirty="0"/>
              <a:t>YEAR</a:t>
            </a:r>
            <a:r>
              <a:rPr lang="en-IN" dirty="0"/>
              <a:t>(</a:t>
            </a:r>
            <a:r>
              <a:rPr lang="en-IN" dirty="0" err="1"/>
              <a:t>payment_date</a:t>
            </a:r>
            <a:r>
              <a:rPr lang="en-IN" dirty="0"/>
              <a:t>) </a:t>
            </a:r>
            <a:r>
              <a:rPr lang="en-IN" b="1" dirty="0"/>
              <a:t>AS</a:t>
            </a:r>
            <a:r>
              <a:rPr lang="en-IN" dirty="0"/>
              <a:t> </a:t>
            </a:r>
            <a:r>
              <a:rPr lang="en-IN" i="1" dirty="0"/>
              <a:t>year</a:t>
            </a:r>
            <a:r>
              <a:rPr lang="en-IN" dirty="0"/>
              <a:t>,</a:t>
            </a:r>
          </a:p>
          <a:p>
            <a:r>
              <a:rPr lang="en-IN" b="1" dirty="0"/>
              <a:t>SUM</a:t>
            </a:r>
            <a:r>
              <a:rPr lang="en-IN" dirty="0"/>
              <a:t>(</a:t>
            </a:r>
            <a:r>
              <a:rPr lang="en-IN" dirty="0" err="1"/>
              <a:t>amount_paid</a:t>
            </a:r>
            <a:r>
              <a:rPr lang="en-IN" dirty="0"/>
              <a:t>) </a:t>
            </a:r>
            <a:r>
              <a:rPr lang="en-IN" b="1" dirty="0"/>
              <a:t>AS</a:t>
            </a:r>
            <a:r>
              <a:rPr lang="en-IN" dirty="0"/>
              <a:t> </a:t>
            </a:r>
            <a:r>
              <a:rPr lang="en-IN" i="1" dirty="0" err="1"/>
              <a:t>yearly_revenue</a:t>
            </a:r>
            <a:endParaRPr lang="en-IN" dirty="0"/>
          </a:p>
          <a:p>
            <a:r>
              <a:rPr lang="en-IN" b="1" dirty="0"/>
              <a:t>FROM</a:t>
            </a:r>
            <a:r>
              <a:rPr lang="en-IN" dirty="0"/>
              <a:t> payments</a:t>
            </a:r>
          </a:p>
          <a:p>
            <a:r>
              <a:rPr lang="en-IN" b="1" dirty="0"/>
              <a:t>WHERE</a:t>
            </a:r>
            <a:r>
              <a:rPr lang="en-IN" dirty="0"/>
              <a:t> </a:t>
            </a:r>
            <a:r>
              <a:rPr lang="en-IN" dirty="0" err="1"/>
              <a:t>payment_status</a:t>
            </a:r>
            <a:r>
              <a:rPr lang="en-IN" dirty="0"/>
              <a:t> = 'Paid'</a:t>
            </a:r>
          </a:p>
          <a:p>
            <a:r>
              <a:rPr lang="en-IN" b="1" dirty="0"/>
              <a:t>GROUP</a:t>
            </a:r>
            <a:r>
              <a:rPr lang="en-IN" dirty="0"/>
              <a:t> </a:t>
            </a:r>
            <a:r>
              <a:rPr lang="en-IN" b="1" dirty="0"/>
              <a:t>BY</a:t>
            </a:r>
            <a:r>
              <a:rPr lang="en-IN" dirty="0"/>
              <a:t> </a:t>
            </a:r>
            <a:r>
              <a:rPr lang="en-IN" b="1" dirty="0"/>
              <a:t>YEAR</a:t>
            </a:r>
            <a:r>
              <a:rPr lang="en-IN" dirty="0"/>
              <a:t>(</a:t>
            </a:r>
            <a:r>
              <a:rPr lang="en-IN" dirty="0" err="1"/>
              <a:t>payment_date</a:t>
            </a:r>
            <a:r>
              <a:rPr lang="en-IN" dirty="0"/>
              <a:t>)</a:t>
            </a:r>
          </a:p>
          <a:p>
            <a:r>
              <a:rPr lang="en-IN" b="1" dirty="0"/>
              <a:t>ORDER</a:t>
            </a:r>
            <a:r>
              <a:rPr lang="en-IN" dirty="0"/>
              <a:t> </a:t>
            </a:r>
            <a:r>
              <a:rPr lang="en-IN" b="1" dirty="0"/>
              <a:t>BY</a:t>
            </a:r>
            <a:r>
              <a:rPr lang="en-IN" dirty="0"/>
              <a:t> </a:t>
            </a:r>
            <a:r>
              <a:rPr lang="en-IN" b="1" dirty="0"/>
              <a:t>YEAR</a:t>
            </a:r>
            <a:r>
              <a:rPr lang="en-IN" dirty="0"/>
              <a:t>(</a:t>
            </a:r>
            <a:r>
              <a:rPr lang="en-IN" dirty="0" err="1"/>
              <a:t>payment_date</a:t>
            </a:r>
            <a:r>
              <a:rPr lang="en-IN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06C3CE-803E-D5D6-28A0-CC9770234067}"/>
              </a:ext>
            </a:extLst>
          </p:cNvPr>
          <p:cNvSpPr txBox="1"/>
          <p:nvPr/>
        </p:nvSpPr>
        <p:spPr>
          <a:xfrm>
            <a:off x="960120" y="3776472"/>
            <a:ext cx="8046720" cy="1256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3D539F-3732-2515-244A-26362C45A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95928"/>
            <a:ext cx="7884226" cy="21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8B814F-0546-FAFD-8F15-965BA7FC1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66701"/>
            <a:ext cx="7796464" cy="1308099"/>
          </a:xfrm>
        </p:spPr>
        <p:txBody>
          <a:bodyPr anchor="ctr"/>
          <a:lstStyle/>
          <a:p>
            <a:r>
              <a:rPr lang="en-IN" sz="2400" dirty="0"/>
              <a:t>Customer</a:t>
            </a:r>
            <a:r>
              <a:rPr lang="en-IN" dirty="0"/>
              <a:t> </a:t>
            </a:r>
            <a:r>
              <a:rPr lang="en-IN" sz="2400" dirty="0"/>
              <a:t>Review REPORT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24DABA-C844-44A0-6F4B-F2858D5D9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1379220"/>
            <a:ext cx="3808899" cy="4644145"/>
          </a:xfrm>
        </p:spPr>
        <p:txBody>
          <a:bodyPr>
            <a:normAutofit fontScale="25000" lnSpcReduction="20000"/>
          </a:bodyPr>
          <a:lstStyle/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SELECT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.customer_id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</a:t>
            </a: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CONCAT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.first_name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 ' ',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.last_name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) </a:t>
            </a:r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AS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customer_name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</a:t>
            </a:r>
          </a:p>
          <a:p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rm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.room_number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</a:t>
            </a:r>
          </a:p>
          <a:p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rm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.room_type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</a:t>
            </a:r>
          </a:p>
          <a:p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f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.rating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</a:t>
            </a:r>
          </a:p>
          <a:p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f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.comments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,</a:t>
            </a:r>
          </a:p>
          <a:p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f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.feedback_date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FROM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feedback </a:t>
            </a:r>
            <a:r>
              <a:rPr lang="en-IN" sz="5600" i="1" dirty="0">
                <a:solidFill>
                  <a:schemeClr val="bg2">
                    <a:lumMod val="10000"/>
                  </a:schemeClr>
                </a:solidFill>
              </a:rPr>
              <a:t>f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JOIN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customers </a:t>
            </a:r>
            <a:r>
              <a:rPr lang="en-IN" sz="5600" i="1" dirty="0">
                <a:solidFill>
                  <a:schemeClr val="bg2">
                    <a:lumMod val="10000"/>
                  </a:schemeClr>
                </a:solidFill>
              </a:rPr>
              <a:t>c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ON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f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.customer_id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=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.customer_id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JOIN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reservations </a:t>
            </a:r>
            <a:r>
              <a:rPr lang="en-IN" sz="5600" i="1" dirty="0">
                <a:solidFill>
                  <a:schemeClr val="bg2">
                    <a:lumMod val="10000"/>
                  </a:schemeClr>
                </a:solidFill>
              </a:rPr>
              <a:t>r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ON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f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.reservation_id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=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r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.reservation_id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JOIN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rooms </a:t>
            </a:r>
            <a:r>
              <a:rPr lang="en-IN" sz="5600" i="1" dirty="0">
                <a:solidFill>
                  <a:schemeClr val="bg2">
                    <a:lumMod val="10000"/>
                  </a:schemeClr>
                </a:solidFill>
              </a:rPr>
              <a:t>rm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ON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r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.room_id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=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rm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.room_id</a:t>
            </a:r>
            <a:endParaRPr lang="en-IN" sz="56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ORDER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b="1" dirty="0">
                <a:solidFill>
                  <a:schemeClr val="bg2">
                    <a:lumMod val="10000"/>
                  </a:schemeClr>
                </a:solidFill>
              </a:rPr>
              <a:t>BY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i="1" dirty="0" err="1">
                <a:solidFill>
                  <a:schemeClr val="bg2">
                    <a:lumMod val="10000"/>
                  </a:schemeClr>
                </a:solidFill>
              </a:rPr>
              <a:t>f</a:t>
            </a:r>
            <a:r>
              <a:rPr lang="en-IN" sz="5600" dirty="0" err="1">
                <a:solidFill>
                  <a:schemeClr val="bg2">
                    <a:lumMod val="10000"/>
                  </a:schemeClr>
                </a:solidFill>
              </a:rPr>
              <a:t>.feedback_date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5600" b="1" dirty="0" err="1">
                <a:solidFill>
                  <a:schemeClr val="bg2">
                    <a:lumMod val="10000"/>
                  </a:schemeClr>
                </a:solidFill>
              </a:rPr>
              <a:t>desc</a:t>
            </a:r>
            <a:r>
              <a:rPr lang="en-IN" sz="5600" dirty="0">
                <a:solidFill>
                  <a:schemeClr val="bg2">
                    <a:lumMod val="10000"/>
                  </a:schemeClr>
                </a:solidFill>
              </a:rPr>
              <a:t>;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236098-34B1-841D-24E3-E1B54D8B005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810000" y="1574800"/>
            <a:ext cx="4800600" cy="444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06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Shift-wise Employees</a:t>
            </a:r>
            <a:br>
              <a:rPr lang="en-IN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866900"/>
            <a:ext cx="3568869" cy="4156465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SELECT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shift,</a:t>
            </a:r>
          </a:p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count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employee_id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)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as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i="1" dirty="0" err="1">
                <a:solidFill>
                  <a:schemeClr val="bg2">
                    <a:lumMod val="10000"/>
                  </a:schemeClr>
                </a:solidFill>
              </a:rPr>
              <a:t>total_employees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FROM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employees</a:t>
            </a:r>
          </a:p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GROUP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BY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shift</a:t>
            </a:r>
          </a:p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ORDER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by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i="1" dirty="0" err="1">
                <a:solidFill>
                  <a:schemeClr val="bg2">
                    <a:lumMod val="10000"/>
                  </a:schemeClr>
                </a:solidFill>
              </a:rPr>
              <a:t>total_employees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DESC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;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2C1457-BB1E-BEE5-C966-CD41BEC5C09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55307" y="2171986"/>
            <a:ext cx="5383167" cy="350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7778750" cy="1775460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ADVANTAGES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D1A1D-020C-FBA7-B281-8ACD281782D1}"/>
              </a:ext>
            </a:extLst>
          </p:cNvPr>
          <p:cNvSpPr txBox="1"/>
          <p:nvPr/>
        </p:nvSpPr>
        <p:spPr>
          <a:xfrm>
            <a:off x="1257300" y="1821180"/>
            <a:ext cx="94792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Automates hotel reservation and booking processes.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Stores customer data securely in a centralized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Generates reports for occupancy, revenue, and customer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Reduces manual work and minimizes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Improves customer satisfaction through faster service.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01981"/>
            <a:ext cx="9936480" cy="1173479"/>
          </a:xfrm>
        </p:spPr>
        <p:txBody>
          <a:bodyPr/>
          <a:lstStyle/>
          <a:p>
            <a:r>
              <a:rPr lang="en-US" dirty="0"/>
              <a:t>  DISADVANTAGES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93520" y="2232660"/>
            <a:ext cx="8869680" cy="408717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FDFBF6"/>
                </a:highlight>
              </a:rPr>
              <a:t>Requires regular database maintenance and updates.</a:t>
            </a:r>
          </a:p>
          <a:p>
            <a:endParaRPr lang="en-US" sz="2400" dirty="0">
              <a:solidFill>
                <a:schemeClr val="tx1"/>
              </a:solidFill>
              <a:highlight>
                <a:srgbClr val="FDFBF6"/>
              </a:highlight>
            </a:endParaRPr>
          </a:p>
          <a:p>
            <a:r>
              <a:rPr lang="en-US" sz="2400" dirty="0">
                <a:solidFill>
                  <a:schemeClr val="tx1"/>
                </a:solidFill>
                <a:highlight>
                  <a:srgbClr val="FDFBF6"/>
                </a:highlight>
              </a:rPr>
              <a:t>Initial setup and implementation can be costly.</a:t>
            </a:r>
          </a:p>
          <a:p>
            <a:endParaRPr lang="en-US" sz="2400" dirty="0">
              <a:solidFill>
                <a:schemeClr val="tx1"/>
              </a:solidFill>
              <a:highlight>
                <a:srgbClr val="FDFBF6"/>
              </a:highlight>
            </a:endParaRPr>
          </a:p>
          <a:p>
            <a:r>
              <a:rPr lang="en-US" sz="2400" dirty="0">
                <a:solidFill>
                  <a:schemeClr val="tx1"/>
                </a:solidFill>
                <a:highlight>
                  <a:srgbClr val="FDFBF6"/>
                </a:highlight>
              </a:rPr>
              <a:t>System failure may affect hotel operations.</a:t>
            </a:r>
          </a:p>
          <a:p>
            <a:endParaRPr lang="en-US" sz="2400" dirty="0">
              <a:solidFill>
                <a:schemeClr val="tx1"/>
              </a:solidFill>
              <a:highlight>
                <a:srgbClr val="FDFBF6"/>
              </a:highlight>
            </a:endParaRPr>
          </a:p>
          <a:p>
            <a:r>
              <a:rPr lang="en-US" sz="2400" dirty="0">
                <a:solidFill>
                  <a:schemeClr val="tx1"/>
                </a:solidFill>
                <a:highlight>
                  <a:srgbClr val="FDFBF6"/>
                </a:highlight>
              </a:rPr>
              <a:t>Requires trained staff to operate the system.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highlight>
                <a:srgbClr val="FDFBF6"/>
              </a:highlight>
            </a:endParaRPr>
          </a:p>
          <a:p>
            <a:r>
              <a:rPr lang="en-US" sz="2400" dirty="0">
                <a:solidFill>
                  <a:schemeClr val="tx1"/>
                </a:solidFill>
                <a:highlight>
                  <a:srgbClr val="FDFBF6"/>
                </a:highlight>
              </a:rPr>
              <a:t>Data security risks if proper protection is not implemented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60957-DDDC-FACB-7876-E413EC15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E18AF5-DD18-C5AE-6F65-B49B83CAA1AB}"/>
              </a:ext>
            </a:extLst>
          </p:cNvPr>
          <p:cNvSpPr txBox="1"/>
          <p:nvPr/>
        </p:nvSpPr>
        <p:spPr>
          <a:xfrm>
            <a:off x="1371600" y="373380"/>
            <a:ext cx="862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6"/>
                </a:solidFill>
              </a:rPr>
              <a:t>        FUTURE ENCHANCEMENT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F3BBC-B8B9-A7C0-4AA8-1DD0D6295E8A}"/>
              </a:ext>
            </a:extLst>
          </p:cNvPr>
          <p:cNvSpPr txBox="1"/>
          <p:nvPr/>
        </p:nvSpPr>
        <p:spPr>
          <a:xfrm>
            <a:off x="944880" y="1295400"/>
            <a:ext cx="102336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AI-Based Customer Recommendations Recommend rooms and services based on customer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Mobile App Integration Enable customers to book rooms, check in, and make payments using a mobile app.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Cloud Database Support Store data securely in the cloud for easy access and backup.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Online Payment Gateway Integration Support secure online payments through UPI, cards, and digital wallets.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9917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7FC23-16C1-E790-626B-8DBD9D78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0A008-2478-B9D0-F69C-1A8F3EE31B1E}"/>
              </a:ext>
            </a:extLst>
          </p:cNvPr>
          <p:cNvSpPr txBox="1"/>
          <p:nvPr/>
        </p:nvSpPr>
        <p:spPr>
          <a:xfrm>
            <a:off x="2087880" y="-872191"/>
            <a:ext cx="8191500" cy="48936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IN" sz="6000" dirty="0">
              <a:highlight>
                <a:srgbClr val="FDFBF6"/>
              </a:highlight>
              <a:latin typeface="+mj-lt"/>
            </a:endParaRPr>
          </a:p>
          <a:p>
            <a:pPr algn="ctr"/>
            <a:endParaRPr lang="en-IN" sz="6000" dirty="0">
              <a:highlight>
                <a:srgbClr val="FDFBF6"/>
              </a:highlight>
              <a:latin typeface="+mj-lt"/>
            </a:endParaRPr>
          </a:p>
          <a:p>
            <a:pPr algn="ctr"/>
            <a:endParaRPr lang="en-IN" sz="9600" dirty="0">
              <a:highlight>
                <a:srgbClr val="FDFBF6"/>
              </a:highlight>
              <a:latin typeface="+mj-lt"/>
            </a:endParaRPr>
          </a:p>
          <a:p>
            <a:pPr algn="ctr"/>
            <a:r>
              <a:rPr lang="en-IN" sz="9600" dirty="0">
                <a:highlight>
                  <a:srgbClr val="FDFBF6"/>
                </a:highlight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998994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52500"/>
            <a:ext cx="8851900" cy="2624991"/>
          </a:xfrm>
        </p:spPr>
        <p:txBody>
          <a:bodyPr/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{95A3860F-D36A-473F-BDF5-BE438B9DCB48}TF8a9b5915-b8c7-461e-8cdd-693d48b5e32371f7b7e2_win32-4bf0b9a2ea37</Template>
  <TotalTime>465</TotalTime>
  <Words>778</Words>
  <Application>Microsoft Office PowerPoint</Application>
  <PresentationFormat>Widescreen</PresentationFormat>
  <Paragraphs>158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Sabon Next LT</vt:lpstr>
      <vt:lpstr>Custom</vt:lpstr>
      <vt:lpstr>PowerPoint Presentation</vt:lpstr>
      <vt:lpstr>INTRODUCTION</vt:lpstr>
      <vt:lpstr>OBJECTIVES</vt:lpstr>
      <vt:lpstr>PROJECT  EXPLANATION</vt:lpstr>
      <vt:lpstr>Tables used</vt:lpstr>
      <vt:lpstr>CONCEPTS</vt:lpstr>
      <vt:lpstr>Queries Performed</vt:lpstr>
      <vt:lpstr>Check in check out</vt:lpstr>
      <vt:lpstr>PowerPoint Presentation</vt:lpstr>
      <vt:lpstr>YEARLY REVENUE</vt:lpstr>
      <vt:lpstr>Customer Review REPORT</vt:lpstr>
      <vt:lpstr>Shift-wise Employees </vt:lpstr>
      <vt:lpstr>          ADVANTAGES</vt:lpstr>
      <vt:lpstr>  DISADVANTAGES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kavya vijay</dc:creator>
  <cp:lastModifiedBy>kavya vijay</cp:lastModifiedBy>
  <cp:revision>6</cp:revision>
  <dcterms:created xsi:type="dcterms:W3CDTF">2026-08-05T14:36:14Z</dcterms:created>
  <dcterms:modified xsi:type="dcterms:W3CDTF">2026-08-10T06:54:18Z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